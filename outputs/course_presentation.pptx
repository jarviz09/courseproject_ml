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62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5521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первом слайде кратко обозначается тема проекта: прогнозирование энергопотребления по временным рядам. Основной результат – готовый воспроизводимый проект с кодом, данными, графиками и презентацией.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Задача формулируется как регрессия временного ряда: по окну истории длиной 48 часов нужно спрогнозировать значение потребления на следующий час.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проекте использован воспроизводимый синтетический датасет. Это удобно для сдачи: проект запускается без внешних скачиваний, а структура данных похожа на реальную задачу энергопотребления.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этом слайде показывается, почему задача относится к временным рядам. Есть повторяемый суточный профиль и изменение среднесуточной нагрузки.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Сырой ряд преобразуется в набор окон. Каждое окно содержит 48 часов истории и 6 признаков. Целевое значение – потребление на следующий час.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объясняется выбранная модель. LSTM-сеть принимает последовательность из 48 часов и выдает одно число – прогноз потребления.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Графики обучения показывают динамику функции потерь. Для защиты достаточно сказать, что ошибка снижается и модель обучается устойчиво.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регрессии используются MAE, RMSE, MAPE и R2. График фактических и прогнозных значений показывает, что модель повторяет общий характер изменения потребления.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финале перечисляются результаты проекта и варианты улучшения. Можно подчеркнуть, что проект оформлен как полноценный репозиторий.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446520"/>
            <a:ext cx="10881360" cy="0"/>
          </a:xfrm>
          <a:prstGeom prst="line">
            <a:avLst/>
          </a:prstGeom>
          <a:noFill/>
          <a:ln w="10160">
            <a:solidFill>
              <a:srgbClr val="D9E2E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5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137160"/>
            <a:ext cx="4206240" cy="4206240"/>
          </a:xfrm>
          <a:prstGeom prst="arc">
            <a:avLst/>
          </a:prstGeom>
          <a:solidFill>
            <a:srgbClr val="12355B">
              <a:alpha val="0"/>
            </a:srgbClr>
          </a:solidFill>
          <a:ln w="38100">
            <a:solidFill>
              <a:srgbClr val="2F80ED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286000"/>
            <a:ext cx="4206240" cy="4206240"/>
          </a:xfrm>
          <a:prstGeom prst="arc">
            <a:avLst/>
          </a:prstGeom>
          <a:solidFill>
            <a:srgbClr val="12355B">
              <a:alpha val="0"/>
            </a:srgbClr>
          </a:solidFill>
          <a:ln w="2794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1234440"/>
            <a:ext cx="69494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Прогнозирование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потребления электроэнергии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49808" y="269748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BFF"/>
                </a:solidFill>
              </a:rPr>
              <a:t>Анализ временных рядов с использованием LSTM-сети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" y="370332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3776472"/>
            <a:ext cx="14264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Курсовой проект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78608" y="3703320"/>
            <a:ext cx="1325880" cy="320040"/>
          </a:xfrm>
          <a:prstGeom prst="roundRect">
            <a:avLst>
              <a:gd name="adj" fmla="val 2285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88336" y="3776472"/>
            <a:ext cx="11064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Регрессия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96512" y="3703320"/>
            <a:ext cx="1691640" cy="32004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3776472"/>
            <a:ext cx="1472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Временные ряды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Постановка задачи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76656" y="71323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Что требуется спрогнозировать и зачем это нужно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Курсовой проект • временные ряды • LSTM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2834640" cy="3337560"/>
          </a:xfrm>
          <a:prstGeom prst="roundRect">
            <a:avLst>
              <a:gd name="adj" fmla="val 2581"/>
            </a:avLst>
          </a:prstGeom>
          <a:solidFill>
            <a:srgbClr val="EAF1FF"/>
          </a:solidFill>
          <a:ln w="12700">
            <a:solidFill>
              <a:srgbClr val="BDD1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2355B"/>
                </a:solidFill>
              </a:rPr>
              <a:t>Вход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05840" y="2267712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B5563"/>
                </a:solidFill>
              </a:rPr>
              <a:t>последние 48 часов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B5563"/>
                </a:solidFill>
              </a:rPr>
              <a:t>потребления и внешних факторов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886200" y="2514600"/>
            <a:ext cx="1005840" cy="64008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30368" y="1417320"/>
            <a:ext cx="2834640" cy="3337560"/>
          </a:xfrm>
          <a:prstGeom prst="roundRect">
            <a:avLst>
              <a:gd name="adj" fmla="val 2581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68112" y="1737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2355B"/>
                </a:solidFill>
              </a:rPr>
              <a:t>Модель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468112" y="2267712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B5563"/>
                </a:solidFill>
              </a:rPr>
              <a:t>LSTM-сеть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B5563"/>
                </a:solidFill>
              </a:rPr>
              <a:t>учитывает порядок наблюдений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321040" y="2514600"/>
            <a:ext cx="1005840" cy="64008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91472" y="1417320"/>
            <a:ext cx="2240280" cy="3337560"/>
          </a:xfrm>
          <a:prstGeom prst="roundRect">
            <a:avLst>
              <a:gd name="adj" fmla="val 3265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0" y="1737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2355B"/>
                </a:solidFill>
              </a:rPr>
              <a:t>Выход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692640" y="22402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B5563"/>
                </a:solidFill>
              </a:rPr>
              <a:t>прогноз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B5563"/>
                </a:solidFill>
              </a:rPr>
              <a:t>потребления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B5563"/>
                </a:solidFill>
              </a:rPr>
              <a:t>на следующий час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530352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355B"/>
                </a:solidFill>
              </a:rPr>
              <a:t>Формально это задача регрессии: требуется предсказать непрерывное числовое значение активной мощности.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Набор данных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76656" y="71323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Синтетический воспроизводимый временной ряд с почасовым шагом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Курсовой проект • временные ряды • LSTM</a:t>
            </a:r>
            <a:endParaRPr lang="en-US" sz="800" dirty="0"/>
          </a:p>
        </p:txBody>
      </p:sp>
      <p:pic>
        <p:nvPicPr>
          <p:cNvPr id="5" name="Image 0" descr="/mnt/data/energy_forecasting_project/outputs/timeseries_power_14_da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43000"/>
            <a:ext cx="6903720" cy="274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01000" y="11430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2355B"/>
                </a:solidFill>
              </a:rPr>
              <a:t>Признаки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8001000" y="1600200"/>
            <a:ext cx="3383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38160" y="167335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</a:rPr>
              <a:t>Global_active_power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921240" y="16733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целевая переменная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001000" y="2221992"/>
            <a:ext cx="3383280" cy="502920"/>
          </a:xfrm>
          <a:prstGeom prst="roundRect">
            <a:avLst>
              <a:gd name="adj" fmla="val 9091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38160" y="229514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</a:rPr>
              <a:t>temperature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921240" y="229514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температура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01000" y="2843784"/>
            <a:ext cx="3383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38160" y="291693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</a:rPr>
              <a:t>humidity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921240" y="291693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влажность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001000" y="3465576"/>
            <a:ext cx="3383280" cy="502920"/>
          </a:xfrm>
          <a:prstGeom prst="roundRect">
            <a:avLst>
              <a:gd name="adj" fmla="val 9091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38160" y="353872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</a:rPr>
              <a:t>hour_sin / hour_cos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921240" y="35387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час суток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001000" y="4087368"/>
            <a:ext cx="3383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38160" y="416052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</a:rPr>
              <a:t>is_weekend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921240" y="416052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выходной день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68680" y="49834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B5563"/>
                </a:solidFill>
              </a:rPr>
              <a:t>Данные имитируют суточные пики нагрузки, влияние температуры и различие между рабочими и выходными днями.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Анализ ряда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76656" y="71323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Проверка сезонности и влияния признаков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Курсовой проект • временные ряды • LSTM</a:t>
            </a:r>
            <a:endParaRPr lang="en-US" sz="800" dirty="0"/>
          </a:p>
        </p:txBody>
      </p:sp>
      <p:pic>
        <p:nvPicPr>
          <p:cNvPr id="5" name="Image 0" descr="/mnt/data/energy_forecasting_project/outputs/daily_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097280"/>
            <a:ext cx="4983480" cy="2926080"/>
          </a:xfrm>
          <a:prstGeom prst="rect">
            <a:avLst/>
          </a:prstGeom>
        </p:spPr>
      </p:pic>
      <p:pic>
        <p:nvPicPr>
          <p:cNvPr id="6" name="Image 1" descr="/mnt/data/energy_forecasting_project/outputs/daily_average_pow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097280"/>
            <a:ext cx="5166360" cy="29260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680" y="4434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2355B"/>
                </a:solidFill>
              </a:rPr>
              <a:t>Ключевое наблюдение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868680" y="4864608"/>
            <a:ext cx="1014984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</a:rPr>
              <a:t>Потребление имеет выраженную суточную структуру: в вечерние часы нагрузка возрастает, ночью снижается. Значит, модель должна учитывать историю наблюдений, а не только текущее значение.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Подготовка данных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76656" y="71323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Преобразование ряда в обучающие примеры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Курсовой проект • временные ряды • LSTM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68680" y="1874520"/>
            <a:ext cx="1828800" cy="1097280"/>
          </a:xfrm>
          <a:prstGeom prst="roundRect">
            <a:avLst>
              <a:gd name="adj" fmla="val 5000"/>
            </a:avLst>
          </a:prstGeom>
          <a:solidFill>
            <a:srgbClr val="EAF1FF"/>
          </a:solidFill>
          <a:ln w="12700">
            <a:solidFill>
              <a:srgbClr val="BDD1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031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355B"/>
                </a:solidFill>
              </a:rPr>
              <a:t>t-47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49631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</a:rPr>
              <a:t>6 признаков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0360" y="1874520"/>
            <a:ext cx="1828800" cy="1097280"/>
          </a:xfrm>
          <a:prstGeom prst="roundRect">
            <a:avLst>
              <a:gd name="adj" fmla="val 5000"/>
            </a:avLst>
          </a:prstGeom>
          <a:solidFill>
            <a:srgbClr val="EAF1FF"/>
          </a:solidFill>
          <a:ln w="12700">
            <a:solidFill>
              <a:srgbClr val="BDD1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21031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355B"/>
                </a:solidFill>
              </a:rPr>
              <a:t>t-24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017520" y="249631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</a:rPr>
              <a:t>6 признаков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92040" y="1874520"/>
            <a:ext cx="1828800" cy="1097280"/>
          </a:xfrm>
          <a:prstGeom prst="roundRect">
            <a:avLst>
              <a:gd name="adj" fmla="val 5000"/>
            </a:avLst>
          </a:prstGeom>
          <a:solidFill>
            <a:srgbClr val="EAF1FF"/>
          </a:solidFill>
          <a:ln w="12700">
            <a:solidFill>
              <a:srgbClr val="BDD1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21031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355B"/>
                </a:solidFill>
              </a:rPr>
              <a:t>t-12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0" y="249631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</a:rPr>
              <a:t>6 признаков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03720" y="1874520"/>
            <a:ext cx="1828800" cy="1097280"/>
          </a:xfrm>
          <a:prstGeom prst="roundRect">
            <a:avLst>
              <a:gd name="adj" fmla="val 5000"/>
            </a:avLst>
          </a:prstGeom>
          <a:solidFill>
            <a:srgbClr val="EAF1FF"/>
          </a:solidFill>
          <a:ln w="12700">
            <a:solidFill>
              <a:srgbClr val="BDD1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21031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355B"/>
                </a:solidFill>
              </a:rPr>
              <a:t>t-1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040880" y="249631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</a:rPr>
              <a:t>6 признаков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15400" y="1874520"/>
            <a:ext cx="1828800" cy="1097280"/>
          </a:xfrm>
          <a:prstGeom prst="roundRect">
            <a:avLst>
              <a:gd name="adj" fmla="val 5000"/>
            </a:avLst>
          </a:prstGeom>
          <a:solidFill>
            <a:srgbClr val="EAF1FF"/>
          </a:solidFill>
          <a:ln w="12700">
            <a:solidFill>
              <a:srgbClr val="BDD1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0" y="21031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355B"/>
                </a:solidFill>
              </a:rPr>
              <a:t>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052560" y="249631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</a:rPr>
              <a:t>6 признаков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281160" y="3794760"/>
            <a:ext cx="1828800" cy="82296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0" y="39776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355B"/>
                </a:solidFill>
              </a:rPr>
              <a:t>t + 1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51560" y="4023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355B"/>
                </a:solidFill>
              </a:rPr>
              <a:t>48 часов истории → прогноз следующего часа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51560" y="480060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</a:rPr>
              <a:t>Перед обучением признаки масштабируются, а разбиение train / validation / test выполняется хронологически, без перемешивания временного ряда.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Архитектура LSTM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76656" y="71323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Модель для прогнозирования последовательностей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Курсовой проект • временные ряды • LSTM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94360" y="2011680"/>
            <a:ext cx="13258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226771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</a:rPr>
              <a:t>Input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</a:rPr>
              <a:t>48×6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29968" y="2340864"/>
            <a:ext cx="329184" cy="384048"/>
          </a:xfrm>
          <a:prstGeom prst="rightArrow">
            <a:avLst/>
          </a:prstGeom>
          <a:solidFill>
            <a:srgbClr val="D7E3F8"/>
          </a:solidFill>
          <a:ln w="12700">
            <a:solidFill>
              <a:srgbClr val="D7E3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42032" y="2011680"/>
            <a:ext cx="13258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226771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</a:rPr>
              <a:t>LSTM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</a:rPr>
              <a:t>64 hidden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977640" y="2340864"/>
            <a:ext cx="329184" cy="384048"/>
          </a:xfrm>
          <a:prstGeom prst="rightArrow">
            <a:avLst/>
          </a:prstGeom>
          <a:solidFill>
            <a:srgbClr val="D7E3F8"/>
          </a:solidFill>
          <a:ln w="12700">
            <a:solidFill>
              <a:srgbClr val="D7E3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9704" y="2011680"/>
            <a:ext cx="13258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226771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</a:rPr>
              <a:t>Dropout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</a:rPr>
              <a:t>0.2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25312" y="2340864"/>
            <a:ext cx="329184" cy="384048"/>
          </a:xfrm>
          <a:prstGeom prst="rightArrow">
            <a:avLst/>
          </a:prstGeom>
          <a:solidFill>
            <a:srgbClr val="D7E3F8"/>
          </a:solidFill>
          <a:ln w="12700">
            <a:solidFill>
              <a:srgbClr val="D7E3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37376" y="2011680"/>
            <a:ext cx="13258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47104" y="226771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</a:rPr>
              <a:t>Linear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</a:rPr>
              <a:t>32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72984" y="2340864"/>
            <a:ext cx="329184" cy="384048"/>
          </a:xfrm>
          <a:prstGeom prst="rightArrow">
            <a:avLst/>
          </a:prstGeom>
          <a:solidFill>
            <a:srgbClr val="D7E3F8"/>
          </a:solidFill>
          <a:ln w="12700">
            <a:solidFill>
              <a:srgbClr val="D7E3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85048" y="2011680"/>
            <a:ext cx="13258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94776" y="226771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</a:rPr>
              <a:t>Linear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</a:rPr>
              <a:t>1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820656" y="2340864"/>
            <a:ext cx="329184" cy="384048"/>
          </a:xfrm>
          <a:prstGeom prst="rightArrow">
            <a:avLst/>
          </a:prstGeom>
          <a:solidFill>
            <a:srgbClr val="D7E3F8"/>
          </a:solidFill>
          <a:ln w="12700">
            <a:solidFill>
              <a:srgbClr val="D7E3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011680"/>
            <a:ext cx="1325880" cy="1051560"/>
          </a:xfrm>
          <a:prstGeom prst="roundRect">
            <a:avLst>
              <a:gd name="adj" fmla="val 6087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42448" y="226771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</a:rPr>
              <a:t>Forecast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</a:rPr>
              <a:t>t+1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39776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55B"/>
                </a:solidFill>
              </a:rPr>
              <a:t>Почему LSTM?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68680" y="44805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B5563"/>
                </a:solidFill>
              </a:rPr>
              <a:t>LSTM подходит для временных рядов, потому что хранит информацию о предыдущих шагах и помогает учитывать зависимость текущего потребления от прошлой динамики.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Обучение модели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76656" y="71323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Снижение ошибки на обучающей и валидационной выборках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Курсовой проект • временные ряды • LSTM</a:t>
            </a:r>
            <a:endParaRPr lang="en-US" sz="800" dirty="0"/>
          </a:p>
        </p:txBody>
      </p:sp>
      <p:pic>
        <p:nvPicPr>
          <p:cNvPr id="5" name="Image 0" descr="/mnt/data/energy_forecasting_project/outputs/training_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97280"/>
            <a:ext cx="5212080" cy="2971800"/>
          </a:xfrm>
          <a:prstGeom prst="rect">
            <a:avLst/>
          </a:prstGeom>
        </p:spPr>
      </p:pic>
      <p:pic>
        <p:nvPicPr>
          <p:cNvPr id="6" name="Image 1" descr="/mnt/data/energy_forecasting_project/outputs/validation_rm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097280"/>
            <a:ext cx="4846320" cy="2971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680" y="4480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2355B"/>
                </a:solidFill>
              </a:rPr>
              <a:t>Интерпретация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868680" y="490118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</a:rPr>
              <a:t>Функция потерь уменьшается, а валидационная ошибка стабилизируется. Это означает, что модель выделила основные закономерности ряда и не свелась к случайному подбору.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Качество прогноза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76656" y="71323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Оценка на тестовой выборке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Курсовой проект • временные ряды • LSTM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" y="114300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143000"/>
            <a:ext cx="82296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2984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55B"/>
                </a:solidFill>
              </a:rPr>
              <a:t>0.133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78408" y="16733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MAE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54680" y="114300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54680" y="1143000"/>
            <a:ext cx="82296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2984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55B"/>
                </a:solidFill>
              </a:rPr>
              <a:t>0.173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55848" y="16733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RMSE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32120" y="114300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32120" y="1143000"/>
            <a:ext cx="82296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33288" y="12984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55B"/>
                </a:solidFill>
              </a:rPr>
              <a:t>5.36%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733288" y="16733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MAPE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909560" y="114300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09560" y="1143000"/>
            <a:ext cx="82296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10728" y="12984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55B"/>
                </a:solidFill>
              </a:rPr>
              <a:t>0.788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110728" y="16733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R²</a:t>
            </a:r>
            <a:endParaRPr lang="en-US" sz="950" dirty="0"/>
          </a:p>
        </p:txBody>
      </p:sp>
      <p:pic>
        <p:nvPicPr>
          <p:cNvPr id="21" name="Image 0" descr="/mnt/data/energy_forecasting_project/outputs/prediction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14600"/>
            <a:ext cx="5577840" cy="2971800"/>
          </a:xfrm>
          <a:prstGeom prst="rect">
            <a:avLst/>
          </a:prstGeom>
        </p:spPr>
      </p:pic>
      <p:pic>
        <p:nvPicPr>
          <p:cNvPr id="22" name="Image 1" descr="/mnt/data/energy_forecasting_project/outputs/actual_vs_predic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514600"/>
            <a:ext cx="3749040" cy="2971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Выводы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76656" y="722376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Что получилось и как развивать проект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Курсовой проект • временные ряды • LSTM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68680" y="123444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316736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130759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Сформирована задача прогнозирования временного ряда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1984248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066544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17320" y="205740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Проведен анализ данных и суточного профиля нагрузки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" y="2734056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816352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17320" y="280720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Реализована LSTM-модель для прогноза на следующий час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3483864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3566160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17320" y="355701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Получены метрики и визуальное сравнение прогноза с фактом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600</Words>
  <Application>Microsoft Office PowerPoint</Application>
  <PresentationFormat>Широкоэкранный</PresentationFormat>
  <Paragraphs>127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Course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Прогнозирование потребления электроэнергии</dc:title>
  <dc:subject>Energy forecasting course project</dc:subject>
  <dc:creator>Novitskiy Boris</dc:creator>
  <cp:lastModifiedBy>Зайнутдин Магомедов</cp:lastModifiedBy>
  <cp:revision>2</cp:revision>
  <dcterms:created xsi:type="dcterms:W3CDTF">2026-05-26T20:26:43Z</dcterms:created>
  <dcterms:modified xsi:type="dcterms:W3CDTF">2026-05-26T20:42:39Z</dcterms:modified>
</cp:coreProperties>
</file>